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8ED853-5144-4141-9B95-0F32084D3126}" type="doc">
      <dgm:prSet loTypeId="urn:microsoft.com/office/officeart/2005/8/layout/process1#1" loCatId="" qsTypeId="urn:microsoft.com/office/officeart/2005/8/quickstyle/simple2#4" qsCatId="simple" csTypeId="urn:microsoft.com/office/officeart/2005/8/colors/accent1_2" csCatId="accent1" phldr="0"/>
      <dgm:spPr/>
    </dgm:pt>
    <dgm:pt modelId="{D4773A47-A7D6-4E1E-9CEC-A6B558F23BE9}">
      <dgm:prSet phldrT="[Text]"/>
      <dgm:spPr/>
      <dgm:t>
        <a:bodyPr/>
        <a:lstStyle/>
        <a:p>
          <a:r>
            <a:rPr lang="en-GB" dirty="0"/>
            <a:t>Planning</a:t>
          </a:r>
        </a:p>
      </dgm:t>
    </dgm:pt>
    <dgm:pt modelId="{7B6148B0-DA94-440D-8CEB-9566E10FFE54}" type="parTrans">
      <dgm:prSet/>
      <dgm:spPr/>
      <dgm:t>
        <a:bodyPr/>
        <a:lstStyle/>
        <a:p>
          <a:endParaRPr lang="en-GB"/>
        </a:p>
      </dgm:t>
    </dgm:pt>
    <dgm:pt modelId="{1B62DFE2-B7A3-454B-9E08-F635F973308D}" type="sibTrans">
      <dgm:prSet/>
      <dgm:spPr/>
      <dgm:t>
        <a:bodyPr/>
        <a:lstStyle/>
        <a:p>
          <a:endParaRPr lang="en-GB"/>
        </a:p>
      </dgm:t>
    </dgm:pt>
    <dgm:pt modelId="{D4024D46-AB5B-4EF3-9C2A-023C2227DB3B}">
      <dgm:prSet phldrT="[Text]"/>
      <dgm:spPr/>
      <dgm:t>
        <a:bodyPr/>
        <a:lstStyle/>
        <a:p>
          <a:r>
            <a:rPr lang="en-GB" dirty="0"/>
            <a:t>Memory</a:t>
          </a:r>
        </a:p>
      </dgm:t>
    </dgm:pt>
    <dgm:pt modelId="{29D66B9E-78EA-4607-8B16-B7B9CFE33F2C}" type="parTrans">
      <dgm:prSet/>
      <dgm:spPr/>
      <dgm:t>
        <a:bodyPr/>
        <a:lstStyle/>
        <a:p>
          <a:endParaRPr lang="en-GB"/>
        </a:p>
      </dgm:t>
    </dgm:pt>
    <dgm:pt modelId="{A01FC7C3-4612-4CFE-B644-577C74A8425B}" type="sibTrans">
      <dgm:prSet/>
      <dgm:spPr/>
      <dgm:t>
        <a:bodyPr/>
        <a:lstStyle/>
        <a:p>
          <a:endParaRPr lang="en-GB"/>
        </a:p>
      </dgm:t>
    </dgm:pt>
    <dgm:pt modelId="{43A0BC7E-BBE7-42A0-AB1C-106A92AF1380}">
      <dgm:prSet phldrT="[Text]"/>
      <dgm:spPr/>
      <dgm:t>
        <a:bodyPr/>
        <a:lstStyle/>
        <a:p>
          <a:r>
            <a:rPr lang="en-GB" dirty="0"/>
            <a:t>Tool use</a:t>
          </a:r>
        </a:p>
      </dgm:t>
    </dgm:pt>
    <dgm:pt modelId="{98D1C1C8-4B6B-4250-B530-8C9CCACCCFF1}" type="parTrans">
      <dgm:prSet/>
      <dgm:spPr/>
      <dgm:t>
        <a:bodyPr/>
        <a:lstStyle/>
        <a:p>
          <a:endParaRPr lang="en-GB"/>
        </a:p>
      </dgm:t>
    </dgm:pt>
    <dgm:pt modelId="{5ACD8F68-BF1A-4A37-9F08-8984370F47C5}" type="sibTrans">
      <dgm:prSet/>
      <dgm:spPr/>
      <dgm:t>
        <a:bodyPr/>
        <a:lstStyle/>
        <a:p>
          <a:endParaRPr lang="en-GB"/>
        </a:p>
      </dgm:t>
    </dgm:pt>
  </dgm:ptLst>
  <dgm:cxnLst>
    <dgm:cxn modelId="{62B66233-6C66-4584-8CA0-2D8B8301D1C7}" srcId="{798ED853-5144-4141-9B95-0F32084D3126}" destId="{D4773A47-A7D6-4E1E-9CEC-A6B558F23BE9}" srcOrd="0" destOrd="0" parTransId="{7B6148B0-DA94-440D-8CEB-9566E10FFE54}" sibTransId="{1B62DFE2-B7A3-454B-9E08-F635F973308D}"/>
    <dgm:cxn modelId="{C55654AC-CB2D-455B-BEE4-415494B2AB48}" srcId="{798ED853-5144-4141-9B95-0F32084D3126}" destId="{D4024D46-AB5B-4EF3-9C2A-023C2227DB3B}" srcOrd="1" destOrd="0" parTransId="{29D66B9E-78EA-4607-8B16-B7B9CFE33F2C}" sibTransId="{A01FC7C3-4612-4CFE-B644-577C74A8425B}"/>
    <dgm:cxn modelId="{7DCAC556-1E04-45EF-9413-2C1DA9EFC358}" srcId="{798ED853-5144-4141-9B95-0F32084D3126}" destId="{43A0BC7E-BBE7-42A0-AB1C-106A92AF1380}" srcOrd="2" destOrd="0" parTransId="{98D1C1C8-4B6B-4250-B530-8C9CCACCCFF1}" sibTransId="{5ACD8F68-BF1A-4A37-9F08-8984370F47C5}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#1" minVer="12.0">
  <dgm:title val=""/>
  <dgm:desc val=""/>
  <dgm:catLst>
    <dgm:cat type="process" pri="1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w" for="ch" ptType="node" refType="w"/>
      <dgm:constr type="w" for="ch" ptType="sibTrans" refType="w" refFor="ch" refPtType="node" op="equ" fact="0.4"/>
      <dgm:constr type="h" for="ch" ptType="sibTrans" op="equ"/>
      <dgm:constr type="primFontSz" for="des" forName="connectorText" op="equ"/>
      <dgm:constr type="h" for="ch" ptType="node" op="equ"/>
      <dgm:constr type="primFontSz" for="ch" ptType="node" op="equ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05"/>
          </dgm:adjLst>
        </dgm:shape>
        <dgm:presOf axis="desOrSelf" ptType="node"/>
        <dgm:constrLst>
          <dgm:constr type="h" refType="w" fact="0.6"/>
          <dgm:constr type="primFontSz" val="100"/>
        </dgm:constrLst>
        <dgm:ruleLst>
          <dgm:rule type="primFontSz" val="36" fact="NaN" max="NaN"/>
          <dgm:rule type="h" val="NaN" fact="0.75" max="NaN"/>
          <dgm:rule type="primFontSz" val="2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constrLst>
            <dgm:constr type="w" val="25"/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constrLst>
              <dgm:constr type="primFontSz" val="18"/>
              <dgm:constr type="lMarg"/>
              <dgm:constr type="rMarg"/>
              <dgm:constr type="tMarg"/>
              <dgm:constr type="bMarg"/>
            </dgm:constrLst>
            <dgm:ruleLst>
              <dgm:rule type="primFontSz" val="2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4">
  <dgm:title val="Simple 2"/>
  <dgm:desc val="Simple 2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title-hero-dark-gri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atmospheric dark grid / circuit motif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Actually Work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demos die in production — and the three pillars that save them.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conference talk  ·  For developers shipping agents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demo-to-production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wow on stage often crumble under real traffic.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wheels come off: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failures are rarely reproducible in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silently misfire — no schema, no retry 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explode as conversations drift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bolted on, not designed in</a:t>
            </a:r>
            <a:endParaRPr lang="en-US" sz="1500" dirty="0"/>
          </a:p>
        </p:txBody>
      </p:sp>
      <p:sp>
        <p:nvSpPr>
          <p:cNvPr id="4" name="IMAGE:demo-vs-prod-split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0" y="1143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split scene — polished demo stage vs. chaotic prod pager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agent demos fail in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proofs-of-concept never reach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4.2x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5204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blow-up when context isn't managed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fail silently without structured schemas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practitioner surveys, internal telemetry, common autopsy patterns.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architectural pillars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that survives production gets these right.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three pillars — Planning  |  Memory  |  Tool Use  (radial/triangle relationship)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4/10</a:t>
            </a:r>
            <a:endParaRPr lang="en-US" sz="1000" dirty="0"/>
          </a:p>
        </p:txBody>
      </p:sp>
      <p:graphicFrame>
        <p:nvGraphicFramePr>
          <p:cNvPr id="7" name="Diagram 1"/>
          <p:cNvGraphicFramePr>
            <a:graphicFrameLocks xmlns:a="http://schemas.openxmlformats.org/drawingml/2006/main" noChangeAspect="1"/>
          </p:cNvGraphicFramePr>
          <p:nvPr/>
        </p:nvGraphicFramePr>
        <p:xfrm>
          <a:off xmlns:a="http://schemas.openxmlformats.org/drawingml/2006/main" x="685800" y="1463040"/>
          <a:ext xmlns:a="http://schemas.openxmlformats.org/drawingml/2006/main" cx="7772400" cy="3017520"/>
        </p:xfrm>
        <a:graphic xmlns:a="http://schemas.openxmlformats.org/drawingml/2006/main"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—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task decomposition beats hoping the model will figure it out.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plan as a first-class artefact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on failure, not just on completion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search — depth, budget, step count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decision for post-mortem analysis</a:t>
            </a:r>
            <a:endParaRPr lang="en-US" sz="1500" dirty="0"/>
          </a:p>
        </p:txBody>
      </p:sp>
      <p:sp>
        <p:nvSpPr>
          <p:cNvPr id="5" name="SMARTART:planning-replan-loop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plan → act → observe → re-plan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— Memory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budget. Spend it like one.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conversation scratchpad, reset aggressively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store, keyed by user +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before you run out of tokens, not after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 — deterministic calls shouldn't re-run</a:t>
            </a:r>
            <a:endParaRPr lang="en-US" sz="1500" dirty="0"/>
          </a:p>
        </p:txBody>
      </p:sp>
      <p:sp>
        <p:nvSpPr>
          <p:cNvPr id="5" name="IMAGE:memory-layers-illustration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three-layer memory stack — scratchpad / session / long-term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— Tool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the agent's API to reality — treat them that way.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schemas for every tool — no free-text arguments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calls where possible; explicit retry policy otherwise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 — read before write, write before delete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call: args in, result out, latency, error code</a:t>
            </a:r>
            <a:endParaRPr lang="en-US" sz="1500" dirty="0"/>
          </a:p>
        </p:txBody>
      </p:sp>
      <p:sp>
        <p:nvSpPr>
          <p:cNvPr id="5" name="SMARTART:tool-call-sequence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669280" y="11430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SMARTART: agent → schema validator → tool → trace sink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:case-study-server-room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30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soft server-room / dashboard atmosphere, heavy dark overlay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a support agent at scale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SaaS, 40k tickets/month. Two engineers. Nine weeks from spike to GA.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response 14m, 62% first-contact resolution, on-call burned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 artefact per ticket. Cached retrieval over product docs. Tools with strict schemas + retry.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9319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52s, 81% first-contact resolution, on-call reclaimed Fridays.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pillars showed up in the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 got an explicit 3-step plan: classify → retrieve → draft. Re-plan on retrieval miss.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scratchpad flushed per ticket. Long-term: embeddings of resolved tickets, 14-day TTL.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65176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only — search_docs, read_ticket, post_reply, escalate. All schema-validated, all traced.</a:t>
            </a:r>
            <a:endParaRPr lang="en-US" sz="1300" dirty="0"/>
          </a:p>
        </p:txBody>
      </p:sp>
      <p:sp>
        <p:nvSpPr>
          <p:cNvPr id="15" name="IMAGE:case-study-dashboard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before/after dashboard strip — response time, FCR, on-call 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Actually Work   · 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 on Monday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plan artefact before you write the prompt.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tools behind a schema. If it's free-text, it's a bug.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your context like tokens cost money — because they do.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call. You cannot debug what you cannot see.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@yourhandle  ·  talks.example.com/agents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That Actually Work</dc:title>
  <dc:subject>PptxGenJS Presentation</dc:subject>
  <dc:creator>Jack-Tar Deckhand</dc:creator>
  <cp:lastModifiedBy>Jack-Tar Deckhand</cp:lastModifiedBy>
  <cp:revision>1</cp:revision>
  <dcterms:created xsi:type="dcterms:W3CDTF">2026-04-23T13:36:42Z</dcterms:created>
  <dcterms:modified xsi:type="dcterms:W3CDTF">2026-04-23T13:36:42Z</dcterms:modified>
</cp:coreProperties>
</file>