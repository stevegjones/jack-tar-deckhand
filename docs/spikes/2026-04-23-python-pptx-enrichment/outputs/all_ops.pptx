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4C7EC3-C1E5-4DF1-AD91-99D0C70C7AFD}" type="doc">
      <dgm:prSet loTypeId="urn:microsoft.com/office/officeart/2005/8/layout/process1#1" loCatId="" qsTypeId="urn:microsoft.com/office/officeart/2005/8/quickstyle/simple2#4" qsCatId="simple" csTypeId="urn:microsoft.com/office/officeart/2005/8/colors/accent1_2" csCatId="accent1" phldr="0"/>
      <dgm:spPr/>
    </dgm:pt>
    <dgm:pt modelId="{2EE7A42E-BF24-4E66-96EF-5E16553C4462}">
      <dgm:prSet phldrT="[Text]"/>
      <dgm:spPr/>
      <dgm:t>
        <a:bodyPr/>
        <a:lstStyle/>
        <a:p>
          <a:r>
            <a:rPr lang="en-GB" dirty="0"/>
            <a:t>Planning</a:t>
          </a:r>
        </a:p>
      </dgm:t>
    </dgm:pt>
    <dgm:pt modelId="{BDF5D5EF-7EF8-4AAA-9089-4AE1FED45EC0}" type="parTrans">
      <dgm:prSet/>
      <dgm:spPr/>
      <dgm:t>
        <a:bodyPr/>
        <a:lstStyle/>
        <a:p>
          <a:endParaRPr lang="en-GB"/>
        </a:p>
      </dgm:t>
    </dgm:pt>
    <dgm:pt modelId="{889629F7-2B1F-40CF-ADB2-3E9D38EB904D}" type="sibTrans">
      <dgm:prSet/>
      <dgm:spPr/>
      <dgm:t>
        <a:bodyPr/>
        <a:lstStyle/>
        <a:p>
          <a:endParaRPr lang="en-GB"/>
        </a:p>
      </dgm:t>
    </dgm:pt>
    <dgm:pt modelId="{CF13517B-122A-4D6B-857A-24B57550FEB3}">
      <dgm:prSet phldrT="[Text]"/>
      <dgm:spPr/>
      <dgm:t>
        <a:bodyPr/>
        <a:lstStyle/>
        <a:p>
          <a:r>
            <a:rPr lang="en-GB" dirty="0"/>
            <a:t>Memory</a:t>
          </a:r>
        </a:p>
      </dgm:t>
    </dgm:pt>
    <dgm:pt modelId="{81CD329F-8046-4121-8D6F-C02520F0C634}" type="parTrans">
      <dgm:prSet/>
      <dgm:spPr/>
      <dgm:t>
        <a:bodyPr/>
        <a:lstStyle/>
        <a:p>
          <a:endParaRPr lang="en-GB"/>
        </a:p>
      </dgm:t>
    </dgm:pt>
    <dgm:pt modelId="{1E95FBAA-19F8-419A-B9C4-DAE2F66795D9}" type="sibTrans">
      <dgm:prSet/>
      <dgm:spPr/>
      <dgm:t>
        <a:bodyPr/>
        <a:lstStyle/>
        <a:p>
          <a:endParaRPr lang="en-GB"/>
        </a:p>
      </dgm:t>
    </dgm:pt>
    <dgm:pt modelId="{321E5F23-1FC6-48BF-A321-9D7D99F411E9}">
      <dgm:prSet phldrT="[Text]"/>
      <dgm:spPr/>
      <dgm:t>
        <a:bodyPr/>
        <a:lstStyle/>
        <a:p>
          <a:r>
            <a:rPr lang="en-GB" dirty="0"/>
            <a:t>Tool use</a:t>
          </a:r>
        </a:p>
      </dgm:t>
    </dgm:pt>
    <dgm:pt modelId="{A6CF5AAA-21D7-4098-89C2-BBE0E495973E}" type="parTrans">
      <dgm:prSet/>
      <dgm:spPr/>
      <dgm:t>
        <a:bodyPr/>
        <a:lstStyle/>
        <a:p>
          <a:endParaRPr lang="en-GB"/>
        </a:p>
      </dgm:t>
    </dgm:pt>
    <dgm:pt modelId="{6721C498-6A99-49E9-BFD4-0266BD93FFB0}" type="sibTrans">
      <dgm:prSet/>
      <dgm:spPr/>
      <dgm:t>
        <a:bodyPr/>
        <a:lstStyle/>
        <a:p>
          <a:endParaRPr lang="en-GB"/>
        </a:p>
      </dgm:t>
    </dgm:pt>
  </dgm:ptLst>
  <dgm:cxnLst>
    <dgm:cxn modelId="{0F495AF3-D14E-4689-B04C-5972989F4607}" srcId="{2E4C7EC3-C1E5-4DF1-AD91-99D0C70C7AFD}" destId="{2EE7A42E-BF24-4E66-96EF-5E16553C4462}" srcOrd="0" destOrd="0" parTransId="{BDF5D5EF-7EF8-4AAA-9089-4AE1FED45EC0}" sibTransId="{889629F7-2B1F-40CF-ADB2-3E9D38EB904D}"/>
    <dgm:cxn modelId="{8FF658CC-2806-4A59-828D-13B1AE7872D2}" srcId="{2E4C7EC3-C1E5-4DF1-AD91-99D0C70C7AFD}" destId="{CF13517B-122A-4D6B-857A-24B57550FEB3}" srcOrd="1" destOrd="0" parTransId="{81CD329F-8046-4121-8D6F-C02520F0C634}" sibTransId="{1E95FBAA-19F8-419A-B9C4-DAE2F66795D9}"/>
    <dgm:cxn modelId="{206EC699-A158-48C4-A5A2-63807DC08281}" srcId="{2E4C7EC3-C1E5-4DF1-AD91-99D0C70C7AFD}" destId="{321E5F23-1FC6-48BF-A321-9D7D99F411E9}" srcOrd="2" destOrd="0" parTransId="{A6CF5AAA-21D7-4098-89C2-BBE0E495973E}" sibTransId="{6721C498-6A99-49E9-BFD4-0266BD93FFB0}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#1" minVer="12.0">
  <dgm:title val=""/>
  <dgm:desc val=""/>
  <dgm:catLst>
    <dgm:cat type="process" pri="1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w" for="ch" ptType="node" refType="w"/>
      <dgm:constr type="w" for="ch" ptType="sibTrans" refType="w" refFor="ch" refPtType="node" op="equ" fact="0.4"/>
      <dgm:constr type="h" for="ch" ptType="sibTrans" op="equ"/>
      <dgm:constr type="primFontSz" for="des" forName="connectorText" op="equ"/>
      <dgm:constr type="h" for="ch" ptType="node" op="equ"/>
      <dgm:constr type="primFontSz" for="ch" ptType="node" op="equ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05"/>
          </dgm:adjLst>
        </dgm:shape>
        <dgm:presOf axis="desOrSelf" ptType="node"/>
        <dgm:constrLst>
          <dgm:constr type="h" refType="w" fact="0.6"/>
          <dgm:constr type="primFontSz" val="100"/>
        </dgm:constrLst>
        <dgm:ruleLst>
          <dgm:rule type="primFontSz" val="36" fact="NaN" max="NaN"/>
          <dgm:rule type="h" val="NaN" fact="0.75" max="NaN"/>
          <dgm:rule type="primFontSz" val="2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constrLst>
            <dgm:constr type="w" val="25"/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constrLst>
              <dgm:constr type="primFontSz" val="18"/>
              <dgm:constr type="lMarg"/>
              <dgm:constr type="rMarg"/>
              <dgm:constr type="tMarg"/>
              <dgm:constr type="bMarg"/>
            </dgm:constrLst>
            <dgm:ruleLst>
              <dgm:rule type="primFontSz" val="2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4">
  <dgm:title val="Simple 2"/>
  <dgm:desc val="Simple 2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atmospheric dark grid / circuit motif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Actually Work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demos die in production — and the three pillars that save them.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conference talk  ·  For developers shipping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demo-to-production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wow on stage often crumble under real traffic.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wheels come off: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failures are rarely reproducible in 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silently misfire — no schema, no retry 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explode as conversations drift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bolted on, not designed 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split scene — polished demo stage vs. chaotic prod pager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2/10</a:t>
            </a:r>
            <a:endParaRPr lang="en-US" sz="100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430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most agent demos fail in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proofs-of-concept never reach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blow-up when context isn't managed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fail silently without structured schemas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practitioner surveys, internal telemetry, common autopsy patterns.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architectural pillars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that survives production gets these right.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three pillars — Planning  |  Memory  |  Tool Use  (radial/triangle relationship)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4/10</a:t>
            </a:r>
            <a:endParaRPr lang="en-US" sz="1000" dirty="0"/>
          </a:p>
        </p:txBody>
      </p:sp>
      <p:graphicFrame>
        <p:nvGraphicFramePr>
          <p:cNvPr id="7" name="Diagram 1"/>
          <p:cNvGraphicFramePr>
            <a:graphicFrameLocks xmlns:a="http://schemas.openxmlformats.org/drawingml/2006/main" noChangeAspect="1"/>
          </p:cNvGraphicFramePr>
          <p:nvPr/>
        </p:nvGraphicFramePr>
        <p:xfrm>
          <a:off xmlns:a="http://schemas.openxmlformats.org/drawingml/2006/main" x="685800" y="1463040"/>
          <a:ext xmlns:a="http://schemas.openxmlformats.org/drawingml/2006/main" cx="7772400" cy="3017520"/>
        </p:xfrm>
        <a:graphic xmlns:a="http://schemas.openxmlformats.org/drawingml/2006/main"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 — Planning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task decomposition beats hoping the model will figure it out.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plan as a first-class artefact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on failure, not just on completion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search — depth, budget, step count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 for post-mortem analysis</a:t>
            </a:r>
            <a:endParaRPr lang="en-US" sz="1500" dirty="0"/>
          </a:p>
        </p:txBody>
      </p:sp>
      <p:sp>
        <p:nvSpPr>
          <p:cNvPr id="5" name="SMARTART:planning-replan-loop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plan → act → observe → re-plan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2 —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 budget. Spend it like one.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conversation scratchpad, reset aggressively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vector store, keyed by user +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before you run out of tokens, not after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tool results — deterministic calls shouldn't re-run</a:t>
            </a:r>
            <a:endParaRPr lang="en-US" sz="1500" dirty="0"/>
          </a:p>
        </p:txBody>
      </p:sp>
      <p:sp>
        <p:nvSpPr>
          <p:cNvPr id="5" name="IMAGE:memory-layers-illustration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three-layer memory stack — scratchpad / session / long-term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— Tool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agent's API to reality — treat them that way.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schemas for every tool — no free-text arguments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calls where possible; explicit retry policy otherwise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 — read before write, write before delete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call: args in, result out, latency, error code</a:t>
            </a:r>
            <a:endParaRPr lang="en-US" sz="1500" dirty="0"/>
          </a:p>
        </p:txBody>
      </p:sp>
      <p:sp>
        <p:nvSpPr>
          <p:cNvPr id="5" name="SMARTART:tool-call-sequence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agent → schema validator → tool → trace sink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case-study-server-room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soft server-room / dashboard atmosphere, heavy dark overlay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a support agent at scale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SaaS, 40k tickets/month. Two engineers. Nine weeks from spike to GA.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14m, 62% first-contact resolution, on-call burned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plan artefact per ticket. Cached retrieval over product docs. Tools with strict schemas + retry.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52s, 81% first-contact resolution, on-call reclaimed Fridays.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pillars showed up in the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got an explicit 3-step plan: classify → retrieve → draft. Re-plan on retrieval miss.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scratchpad flushed per ticket. Long-term: embeddings of resolved tickets, 14-day TTL.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only — search_docs, read_ticket, post_reply, escalate. All schema-validated, all traced.</a:t>
            </a:r>
            <a:endParaRPr lang="en-US" sz="1300" dirty="0"/>
          </a:p>
        </p:txBody>
      </p:sp>
      <p:sp>
        <p:nvSpPr>
          <p:cNvPr id="15" name="IMAGE:case-study-dashboard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before/after dashboard strip — response time, FCR, on-call 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 on Monday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plan artefact before you write the prompt.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tools behind a schema. If it's free-text, it's a bug.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your context like tokens cost money — because they do.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call. You cannot debug what you cannot see.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@yourhandle  ·  talks.example.com/agents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That Actually Work</dc:title>
  <dc:subject>PptxGenJS Presentation</dc:subject>
  <dc:creator>Jack-Tar Deckhand</dc:creator>
  <cp:lastModifiedBy>Jack-Tar Deckhand</cp:lastModifiedBy>
  <cp:revision>1</cp:revision>
  <dcterms:created xsi:type="dcterms:W3CDTF">2026-04-23T13:36:42Z</dcterms:created>
  <dcterms:modified xsi:type="dcterms:W3CDTF">2026-04-23T13:36:42Z</dcterms:modified>
</cp:coreProperties>
</file>